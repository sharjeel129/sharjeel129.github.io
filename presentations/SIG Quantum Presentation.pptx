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5" r:id="rId4"/>
    <p:sldId id="276" r:id="rId5"/>
    <p:sldId id="258" r:id="rId6"/>
    <p:sldId id="27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KU28p+gLF4rkKU/rrm6Xs+hiR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CC58AE-74BB-4062-84E5-BB39BD397850}">
  <a:tblStyle styleId="{E1CC58AE-74BB-4062-84E5-BB39BD397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7B28C0D-6666-CDFC-4EB6-0608FE3E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DCCABE1E-004F-DE09-3A72-D809F8B1B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382367C7-0302-0BCD-D1C2-86AEB213C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9923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56B8CED-0DDB-6996-F709-B3C925CF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D06BA53-EFCB-9754-8418-BFB4FE62B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6B2E4F8D-D023-B97B-ABC7-B95E5EC3F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2368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F2C0608-CC9C-2F8B-FE70-57926BEB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E2E067B-CEA1-A9B7-6889-489DC40F0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40D0A68A-FC07-EC4B-5201-361C7770A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399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d1aff0eca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g39d1aff0ec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d1aff0eca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8" name="Google Shape;268;g39d1aff0ec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d1aff0eca_2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9d1aff0eca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d1aff0eca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9d1aff0ec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3" name="Google Shape;3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d1aff0eca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9d1aff0ec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914400" lvl="1" indent="-406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371600" lvl="2" indent="-381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828800" lvl="3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2286000" lvl="4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743200" lvl="5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3200400" lvl="6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3657600" lvl="7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4114800" lvl="8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g"/><Relationship Id="rId4" Type="http://schemas.openxmlformats.org/officeDocument/2006/relationships/image" Target="../media/image3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1.jp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6311550" y="1670194"/>
            <a:ext cx="2832600" cy="3473400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69549" y="1763073"/>
            <a:ext cx="86049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lang="en-US" sz="3600">
                <a:solidFill>
                  <a:schemeClr val="lt1"/>
                </a:solidFill>
              </a:rPr>
              <a:t>Error Correction using Isometric Embedding </a:t>
            </a: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Sharjeel Ahmad</a:t>
            </a:r>
            <a:r>
              <a:rPr lang="en-US" sz="14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Hussain Ali Razvi</a:t>
            </a:r>
            <a:r>
              <a:rPr lang="en-US" sz="14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Elio Thadhani</a:t>
            </a:r>
            <a:r>
              <a:rPr lang="en-US" sz="14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Facundo M</a:t>
            </a:r>
            <a:r>
              <a:rPr lang="en-US">
                <a:solidFill>
                  <a:schemeClr val="lt1"/>
                </a:solidFill>
              </a:rPr>
              <a:t>artin </a:t>
            </a: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Lopez</a:t>
            </a:r>
            <a:r>
              <a:rPr lang="en-US" sz="14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Eric Chitambar</a:t>
            </a:r>
            <a:r>
              <a:rPr lang="en-US" sz="14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68964" y="4570624"/>
            <a:ext cx="880606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University of Illinois at Urbana Champaign 2. Harvey Mudd College, 3. Carleton College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0756" y="753557"/>
            <a:ext cx="2182486" cy="56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5341" y="226804"/>
            <a:ext cx="525006" cy="52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7950" y="227681"/>
            <a:ext cx="525005" cy="525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a Qubit?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3696094" y="4951153"/>
            <a:ext cx="3279011" cy="52875"/>
            <a:chOff x="4894875" y="6601537"/>
            <a:chExt cx="4372015" cy="70500"/>
          </a:xfrm>
        </p:grpSpPr>
        <p:cxnSp>
          <p:nvCxnSpPr>
            <p:cNvPr id="94" name="Google Shape;94;p2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p2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C956FFC-16AA-EB6B-6561-25618ECB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804191"/>
            <a:ext cx="8448394" cy="3837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0BE36C5-F2C9-CC9F-CE6F-56AF2C65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F7D9A2FE-0219-2CCA-2A91-211A67825306}"/>
              </a:ext>
            </a:extLst>
          </p:cNvPr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0872370A-3683-AB25-6E3C-49070242795B}"/>
              </a:ext>
            </a:extLst>
          </p:cNvPr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Superposition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>
            <a:extLst>
              <a:ext uri="{FF2B5EF4-FFF2-40B4-BE49-F238E27FC236}">
                <a16:creationId xmlns:a16="http://schemas.microsoft.com/office/drawing/2014/main" id="{7B63202C-8944-B040-7454-4F5C2082F4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3D0AA519-69A1-E77C-373C-98C7BF0AF683}"/>
              </a:ext>
            </a:extLst>
          </p:cNvPr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0A7CABE7-4A99-132E-7089-314B96E1B6E6}"/>
              </a:ext>
            </a:extLst>
          </p:cNvPr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DAA7C786-8F10-DB92-60ED-6DCF23EECD04}"/>
              </a:ext>
            </a:extLst>
          </p:cNvPr>
          <p:cNvGrpSpPr/>
          <p:nvPr/>
        </p:nvGrpSpPr>
        <p:grpSpPr>
          <a:xfrm>
            <a:off x="3696094" y="4951153"/>
            <a:ext cx="3279011" cy="52875"/>
            <a:chOff x="4894875" y="6601537"/>
            <a:chExt cx="4372015" cy="70500"/>
          </a:xfrm>
        </p:grpSpPr>
        <p:cxnSp>
          <p:nvCxnSpPr>
            <p:cNvPr id="94" name="Google Shape;94;p2">
              <a:extLst>
                <a:ext uri="{FF2B5EF4-FFF2-40B4-BE49-F238E27FC236}">
                  <a16:creationId xmlns:a16="http://schemas.microsoft.com/office/drawing/2014/main" id="{E78DDCE0-2C53-2938-F581-216093B35AE2}"/>
                </a:ext>
              </a:extLst>
            </p:cNvPr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C1F3A6A-5BD4-CAD9-6D1A-43EB84E8DFAD}"/>
                </a:ext>
              </a:extLst>
            </p:cNvPr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D036A25-C0A6-4D09-A33C-05E818683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02" y="1001683"/>
            <a:ext cx="8634195" cy="329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5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F44CAF9-4F4E-1C1C-BC9F-99A86CA4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A8167026-3C4C-A44B-C9AF-B0823410CD81}"/>
              </a:ext>
            </a:extLst>
          </p:cNvPr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F5AEB1FC-D6E8-EF38-1CEB-2D8C1F381515}"/>
              </a:ext>
            </a:extLst>
          </p:cNvPr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Entanglement</a:t>
            </a:r>
          </a:p>
        </p:txBody>
      </p:sp>
      <p:pic>
        <p:nvPicPr>
          <p:cNvPr id="90" name="Google Shape;90;p2">
            <a:extLst>
              <a:ext uri="{FF2B5EF4-FFF2-40B4-BE49-F238E27FC236}">
                <a16:creationId xmlns:a16="http://schemas.microsoft.com/office/drawing/2014/main" id="{15AE7087-BA21-A948-1F44-27B3C4DB04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0AD7E341-E107-6A7C-7EE9-CA87265ED487}"/>
              </a:ext>
            </a:extLst>
          </p:cNvPr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19D7389B-D80F-928E-2DA8-B506776E6908}"/>
              </a:ext>
            </a:extLst>
          </p:cNvPr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7BAF0C66-268A-8B0F-B756-6582E5B03644}"/>
              </a:ext>
            </a:extLst>
          </p:cNvPr>
          <p:cNvGrpSpPr/>
          <p:nvPr/>
        </p:nvGrpSpPr>
        <p:grpSpPr>
          <a:xfrm>
            <a:off x="3696094" y="4951153"/>
            <a:ext cx="3279011" cy="52875"/>
            <a:chOff x="4894875" y="6601537"/>
            <a:chExt cx="4372015" cy="70500"/>
          </a:xfrm>
        </p:grpSpPr>
        <p:cxnSp>
          <p:nvCxnSpPr>
            <p:cNvPr id="94" name="Google Shape;94;p2">
              <a:extLst>
                <a:ext uri="{FF2B5EF4-FFF2-40B4-BE49-F238E27FC236}">
                  <a16:creationId xmlns:a16="http://schemas.microsoft.com/office/drawing/2014/main" id="{7625035E-F9A1-7093-183D-57CB4BF0314E}"/>
                </a:ext>
              </a:extLst>
            </p:cNvPr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48E65834-3DFD-CCD5-F799-26C03C195B8C}"/>
                </a:ext>
              </a:extLst>
            </p:cNvPr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" name="Picture 3" descr="A screenshot of a white page with black text&#10;&#10;AI-generated content may be incorrect.">
            <a:extLst>
              <a:ext uri="{FF2B5EF4-FFF2-40B4-BE49-F238E27FC236}">
                <a16:creationId xmlns:a16="http://schemas.microsoft.com/office/drawing/2014/main" id="{DB0DB55F-2ABD-22C7-9EEB-E911829E0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10" y="755610"/>
            <a:ext cx="8508163" cy="394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53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Quantum gates: Pauli operators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3696094" y="4951153"/>
            <a:ext cx="3279011" cy="52875"/>
            <a:chOff x="4894875" y="6601537"/>
            <a:chExt cx="4372015" cy="70500"/>
          </a:xfrm>
        </p:grpSpPr>
        <p:cxnSp>
          <p:nvCxnSpPr>
            <p:cNvPr id="113" name="Google Shape;113;p3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4" name="Google Shape;114;p3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3"/>
          <p:cNvSpPr txBox="1"/>
          <p:nvPr/>
        </p:nvSpPr>
        <p:spPr>
          <a:xfrm>
            <a:off x="897137" y="1601910"/>
            <a:ext cx="4572000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Pauli X gates ‘shift’ the computational basis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Pauli Z gates add a phase factor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0621" y="940547"/>
            <a:ext cx="3622758" cy="370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3355" y="2200065"/>
            <a:ext cx="3053219" cy="449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3355" y="3664124"/>
            <a:ext cx="2616114" cy="55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60863" y="1659771"/>
            <a:ext cx="1855125" cy="1281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60864" y="3278869"/>
            <a:ext cx="1922732" cy="1281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A6C2D21-813F-78C7-291A-900791F1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82FD96B1-4C75-9802-BC22-058B561B6074}"/>
              </a:ext>
            </a:extLst>
          </p:cNvPr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85613DEA-B562-13A9-3104-0C89029F1A18}"/>
              </a:ext>
            </a:extLst>
          </p:cNvPr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Dense Coding (qubit case)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>
            <a:extLst>
              <a:ext uri="{FF2B5EF4-FFF2-40B4-BE49-F238E27FC236}">
                <a16:creationId xmlns:a16="http://schemas.microsoft.com/office/drawing/2014/main" id="{28B4D9EB-B772-2337-0F59-81E35E5E06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CB6DD9C0-A217-7B4D-F79A-38B6A2BF4BDB}"/>
              </a:ext>
            </a:extLst>
          </p:cNvPr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DFF20BA3-95EE-C915-A78E-FD65D2FF4DA5}"/>
              </a:ext>
            </a:extLst>
          </p:cNvPr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8B8CDF7E-D024-787D-50EE-4897EC6530DC}"/>
              </a:ext>
            </a:extLst>
          </p:cNvPr>
          <p:cNvGrpSpPr/>
          <p:nvPr/>
        </p:nvGrpSpPr>
        <p:grpSpPr>
          <a:xfrm>
            <a:off x="3696094" y="4951153"/>
            <a:ext cx="3279011" cy="52875"/>
            <a:chOff x="4894875" y="6601537"/>
            <a:chExt cx="4372015" cy="70500"/>
          </a:xfrm>
        </p:grpSpPr>
        <p:cxnSp>
          <p:nvCxnSpPr>
            <p:cNvPr id="94" name="Google Shape;94;p2">
              <a:extLst>
                <a:ext uri="{FF2B5EF4-FFF2-40B4-BE49-F238E27FC236}">
                  <a16:creationId xmlns:a16="http://schemas.microsoft.com/office/drawing/2014/main" id="{5EBB1EEA-5590-543B-8939-73B2E9F14DA4}"/>
                </a:ext>
              </a:extLst>
            </p:cNvPr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F05D0F13-9FA2-AD17-D954-327090BA3AA8}"/>
                </a:ext>
              </a:extLst>
            </p:cNvPr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6" name="Google Shape;96;p2" title="Screenshot 2025-07-21 at 13.06.20.png">
            <a:extLst>
              <a:ext uri="{FF2B5EF4-FFF2-40B4-BE49-F238E27FC236}">
                <a16:creationId xmlns:a16="http://schemas.microsoft.com/office/drawing/2014/main" id="{C433A448-B3ED-7189-87FB-F5C5F0BA43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869" y="2247138"/>
            <a:ext cx="5599338" cy="190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 title="Screenshot 2025-07-21 at 13.09.42.png">
            <a:extLst>
              <a:ext uri="{FF2B5EF4-FFF2-40B4-BE49-F238E27FC236}">
                <a16:creationId xmlns:a16="http://schemas.microsoft.com/office/drawing/2014/main" id="{99AEB413-E9C0-9A85-C0ED-5ED6AAA004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8398" y="2835414"/>
            <a:ext cx="2778425" cy="16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D09FA87-FCB6-B507-90B0-83C226744883}"/>
              </a:ext>
            </a:extLst>
          </p:cNvPr>
          <p:cNvSpPr txBox="1"/>
          <p:nvPr/>
        </p:nvSpPr>
        <p:spPr>
          <a:xfrm>
            <a:off x="354045" y="847490"/>
            <a:ext cx="80397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Pauli operators can be used to rotate the state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two-bit message can be encoded by performing one of four Pauli operators on one subsystem, transforming the joint state.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gates effect phase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gates can be thought of as a bit flips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 title="Screenshot 2025-07-21 at 13.05.32.png">
            <a:extLst>
              <a:ext uri="{FF2B5EF4-FFF2-40B4-BE49-F238E27FC236}">
                <a16:creationId xmlns:a16="http://schemas.microsoft.com/office/drawing/2014/main" id="{0A57B32F-AC0F-4EBF-874C-80E646000C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79053"/>
          <a:stretch/>
        </p:blipFill>
        <p:spPr>
          <a:xfrm>
            <a:off x="6689935" y="2257080"/>
            <a:ext cx="1555349" cy="4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843D7E5-03BA-C7B5-C3F7-13A2C59B0410}"/>
              </a:ext>
            </a:extLst>
          </p:cNvPr>
          <p:cNvSpPr txBox="1"/>
          <p:nvPr/>
        </p:nvSpPr>
        <p:spPr>
          <a:xfrm>
            <a:off x="545303" y="4186317"/>
            <a:ext cx="504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Figure 1: </a:t>
            </a: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Dense coding protocol diagram for the qubit qubit case.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2">
            <a:extLst>
              <a:ext uri="{FF2B5EF4-FFF2-40B4-BE49-F238E27FC236}">
                <a16:creationId xmlns:a16="http://schemas.microsoft.com/office/drawing/2014/main" id="{7F85BF5C-7DDF-AAC8-DD7F-240317B7E7F2}"/>
              </a:ext>
            </a:extLst>
          </p:cNvPr>
          <p:cNvCxnSpPr/>
          <p:nvPr/>
        </p:nvCxnSpPr>
        <p:spPr>
          <a:xfrm>
            <a:off x="502310" y="2896362"/>
            <a:ext cx="5404200" cy="9000"/>
          </a:xfrm>
          <a:prstGeom prst="straightConnector1">
            <a:avLst/>
          </a:prstGeom>
          <a:noFill/>
          <a:ln w="19050" cap="flat" cmpd="sng">
            <a:solidFill>
              <a:srgbClr val="FF5F0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913CC6FE-C71E-9DA3-6805-9452DDF40E48}"/>
              </a:ext>
            </a:extLst>
          </p:cNvPr>
          <p:cNvSpPr/>
          <p:nvPr/>
        </p:nvSpPr>
        <p:spPr>
          <a:xfrm>
            <a:off x="773325" y="3983525"/>
            <a:ext cx="287700" cy="26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676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Higher Dimensional Embedding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4"/>
          <p:cNvGrpSpPr/>
          <p:nvPr/>
        </p:nvGrpSpPr>
        <p:grpSpPr>
          <a:xfrm>
            <a:off x="3696094" y="4951153"/>
            <a:ext cx="3279011" cy="52875"/>
            <a:chOff x="4894875" y="6601537"/>
            <a:chExt cx="4372015" cy="70500"/>
          </a:xfrm>
        </p:grpSpPr>
        <p:cxnSp>
          <p:nvCxnSpPr>
            <p:cNvPr id="131" name="Google Shape;131;p4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2" name="Google Shape;132;p4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3" name="Google Shape;133;p4" title="Screenshot 2025-07-21 at 12.46.0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3498" y="825892"/>
            <a:ext cx="3753325" cy="30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140923" y="731330"/>
            <a:ext cx="45528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quantum state existing in the Hilbert space ℋ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embedded into a higher dimensional space ℋ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 isometric embedding</a:t>
            </a:r>
            <a:endParaRPr/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relatively simple circuit exists for the qubit to qutrit case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595959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468539" y="4009988"/>
            <a:ext cx="435684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2: </a:t>
            </a:r>
            <a:r>
              <a:rPr lang="en-US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Embedding circuit for embedding a qubit bipartite state into qutrit space. This circuit utilizes control pauli X(1) gates in the qutrit space.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5284861" y="3886940"/>
            <a:ext cx="3390600" cy="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3: </a:t>
            </a:r>
            <a:r>
              <a:rPr lang="en-US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 Isometric embedding of a lower dimensional quantum state space into a higher dimensional space.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4" title="Screenshot 2025-07-21 at 15.05.39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405" y="2345879"/>
            <a:ext cx="2891836" cy="16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5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148" name="Google Shape;148;p5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9" name="Google Shape;149;p5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5"/>
          <p:cNvSpPr txBox="1"/>
          <p:nvPr/>
        </p:nvSpPr>
        <p:spPr>
          <a:xfrm>
            <a:off x="130210" y="792986"/>
            <a:ext cx="4748024" cy="40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and Bob share an entangled pair         of      dimensional qudits.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applies one of     possible Z gates.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and Bob embed their system into a higher dimensional space.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applies one of     possible X gates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sends her qubit to Bob, who can now with his qudit decode which of the                possible operations were applied</a:t>
            </a:r>
            <a:endParaRPr/>
          </a:p>
        </p:txBody>
      </p:sp>
      <p:pic>
        <p:nvPicPr>
          <p:cNvPr id="151" name="Google Shape;151;p5" title="Screenshot 2025-07-21 at 2.02.58 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994" y="1238652"/>
            <a:ext cx="241400" cy="2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 title="Screenshot 2025-07-21 at 2.02.58 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1547" y="1672370"/>
            <a:ext cx="241400" cy="2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 title="Screenshot 2025-07-21 at 2.04.27 P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7285" y="2708071"/>
            <a:ext cx="189925" cy="2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 title="Screenshot 2025-07-21 at 2.06.33 P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22936" y="3353781"/>
            <a:ext cx="594138" cy="269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5"/>
          <p:cNvGrpSpPr/>
          <p:nvPr/>
        </p:nvGrpSpPr>
        <p:grpSpPr>
          <a:xfrm>
            <a:off x="4688315" y="886747"/>
            <a:ext cx="4424330" cy="1841170"/>
            <a:chOff x="4649894" y="1493449"/>
            <a:chExt cx="4260308" cy="1772912"/>
          </a:xfrm>
        </p:grpSpPr>
        <p:pic>
          <p:nvPicPr>
            <p:cNvPr id="156" name="Google Shape;156;p5" title="Screenshot 2025-07-21 at 3.22.07 PM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49900" y="1493449"/>
              <a:ext cx="4260302" cy="1772912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57" name="Google Shape;157;p5" title="Screenshot 2025-07-21 at 3.22.46 PM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649894" y="2244939"/>
              <a:ext cx="409906" cy="269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5"/>
          <p:cNvSpPr txBox="1"/>
          <p:nvPr/>
        </p:nvSpPr>
        <p:spPr>
          <a:xfrm>
            <a:off x="4901158" y="2963498"/>
            <a:ext cx="3907500" cy="69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Figure 4: </a:t>
            </a: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Embedded dense coding circuit for a qubit to qudit case. Note the measurement represents a measurement in the encoding basis.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5150205" y="1720091"/>
            <a:ext cx="3606300" cy="0"/>
          </a:xfrm>
          <a:prstGeom prst="straightConnector1">
            <a:avLst/>
          </a:prstGeom>
          <a:noFill/>
          <a:ln w="19050" cap="flat" cmpd="sng">
            <a:solidFill>
              <a:srgbClr val="FF5F05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Dephrasure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6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170" name="Google Shape;170;p6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1" name="Google Shape;171;p6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72" name="Google Shape;172;p6"/>
          <p:cNvGraphicFramePr/>
          <p:nvPr/>
        </p:nvGraphicFramePr>
        <p:xfrm>
          <a:off x="1539923" y="1532386"/>
          <a:ext cx="5791200" cy="3101330"/>
        </p:xfrm>
        <a:graphic>
          <a:graphicData uri="http://schemas.openxmlformats.org/drawingml/2006/table">
            <a:tbl>
              <a:tblPr>
                <a:noFill/>
                <a:tableStyleId>{E1CC58AE-74BB-4062-84E5-BB39BD397850}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 probability of dephasing</a:t>
                      </a:r>
                      <a:endParaRPr sz="105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is the probability of erasure</a:t>
                      </a:r>
                      <a:endParaRPr sz="105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 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 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Loss of superposition. Qubit acts like classical bit with an unknown value and is indistinguishable from other superpositions</a:t>
                      </a:r>
                      <a:endParaRPr sz="105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Qubits are sent to another state labeled e. It is not 0, 1 or a superposition of both. No information can be recovered.</a:t>
                      </a:r>
                      <a:endParaRPr sz="105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3" name="Google Shape;173;p6"/>
          <p:cNvSpPr/>
          <p:nvPr/>
        </p:nvSpPr>
        <p:spPr>
          <a:xfrm>
            <a:off x="1539923" y="153286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5406" y="2337022"/>
            <a:ext cx="2038966" cy="1154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88043" y="2337021"/>
            <a:ext cx="1086135" cy="11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895081" y="846216"/>
            <a:ext cx="7353837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Embedded Dense coding performance when quantum communication passes through a “dephrasure” (erasure and dephasing) channel.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Dephrasure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187" name="Google Shape;187;p7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8" name="Google Shape;188;p7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7"/>
          <p:cNvSpPr txBox="1"/>
          <p:nvPr/>
        </p:nvSpPr>
        <p:spPr>
          <a:xfrm>
            <a:off x="311700" y="10579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595959"/>
              </a:buClr>
              <a:buSzPct val="117647"/>
              <a:buFont typeface="Arial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dephrasure channel is modeled with the equation:</a:t>
            </a:r>
            <a:endParaRPr/>
          </a:p>
        </p:txBody>
      </p:sp>
      <p:pic>
        <p:nvPicPr>
          <p:cNvPr id="190" name="Google Shape;190;p7" title="Screenshot 2025-07-21 at 13.59.2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0" y="1666101"/>
            <a:ext cx="8520602" cy="99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 txBox="1"/>
          <p:nvPr/>
        </p:nvSpPr>
        <p:spPr>
          <a:xfrm>
            <a:off x="311700" y="28867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595959"/>
              </a:buClr>
              <a:buSzPct val="117647"/>
              <a:buFont typeface="Arial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From it, we can derive the success probability of EDC through a dephrasure channel</a:t>
            </a:r>
            <a:endParaRPr/>
          </a:p>
        </p:txBody>
      </p:sp>
      <p:pic>
        <p:nvPicPr>
          <p:cNvPr id="192" name="Google Shape;192;p7" title="Screenshot 2025-07-21 at 14.02.07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1697" y="3459426"/>
            <a:ext cx="8607252" cy="11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Dephrasure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8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203" name="Google Shape;203;p8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4" name="Google Shape;204;p8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5" name="Google Shape;205;p8" title="Screenshot 2025-07-21 at 12.23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742" y="2115276"/>
            <a:ext cx="3922925" cy="10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282605" y="1117701"/>
            <a:ext cx="37932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case of a perfectly entangled resource with zero erasure: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8" title="EDCPsucc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2592" y="674607"/>
            <a:ext cx="4571250" cy="36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4881006" y="4228407"/>
            <a:ext cx="4094761" cy="510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5: </a:t>
            </a: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Analytical projection of success probability of a EDC scheme as D changes.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4800600" y="2227725"/>
            <a:ext cx="4226400" cy="2453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Computer Performance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9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220" name="Google Shape;220;p9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1" name="Google Shape;221;p9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9"/>
          <p:cNvSpPr txBox="1"/>
          <p:nvPr/>
        </p:nvSpPr>
        <p:spPr>
          <a:xfrm>
            <a:off x="311700" y="799828"/>
            <a:ext cx="87153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protocol was tested on IBM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Quantum Computers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Comparing theoretical predictions to performance with real noise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Verify the protocol can be carried out on current hardware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23" name="Google Shape;223;p9" title="WhatsApp Image 2025-07-25 at 12.44.3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8326" y="3081650"/>
            <a:ext cx="3281470" cy="158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 rot="5400000">
            <a:off x="5892819" y="2773508"/>
            <a:ext cx="25200" cy="8379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 rot="5400000">
            <a:off x="6797859" y="2731508"/>
            <a:ext cx="25200" cy="9219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 rot="5400000">
            <a:off x="7814613" y="2807558"/>
            <a:ext cx="25200" cy="7698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 rot="5400000">
            <a:off x="7340547" y="3136358"/>
            <a:ext cx="25200" cy="1122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879150" y="3286574"/>
            <a:ext cx="607200" cy="92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92838" y="4217323"/>
            <a:ext cx="4935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 rot="-2700000">
            <a:off x="5514729" y="2420747"/>
            <a:ext cx="813314" cy="52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Qubits entangled</a:t>
            </a:r>
            <a:endParaRPr sz="11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 rot="-2700000">
            <a:off x="6301085" y="2335967"/>
            <a:ext cx="1371221" cy="4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 applies 1 of 16 operations</a:t>
            </a:r>
            <a:endParaRPr sz="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 rot="-2700000">
            <a:off x="7067051" y="2424524"/>
            <a:ext cx="978777" cy="46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 sends Bob qubit 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 rot="-2700000">
            <a:off x="7730461" y="2271901"/>
            <a:ext cx="1403890" cy="49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Bob decodes operations done </a:t>
            </a:r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5290812" y="4276241"/>
            <a:ext cx="3068700" cy="0"/>
          </a:xfrm>
          <a:prstGeom prst="straightConnector1">
            <a:avLst/>
          </a:prstGeom>
          <a:noFill/>
          <a:ln w="38100" cap="flat" cmpd="sng">
            <a:solidFill>
              <a:srgbClr val="FF5F05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384606" y="2209812"/>
            <a:ext cx="3696243" cy="1538179"/>
            <a:chOff x="352706" y="2427037"/>
            <a:chExt cx="3696243" cy="1538179"/>
          </a:xfrm>
        </p:grpSpPr>
        <p:grpSp>
          <p:nvGrpSpPr>
            <p:cNvPr id="236" name="Google Shape;236;p9"/>
            <p:cNvGrpSpPr/>
            <p:nvPr/>
          </p:nvGrpSpPr>
          <p:grpSpPr>
            <a:xfrm>
              <a:off x="352706" y="2427037"/>
              <a:ext cx="3696243" cy="1538179"/>
              <a:chOff x="4649894" y="1493449"/>
              <a:chExt cx="4260308" cy="1772912"/>
            </a:xfrm>
          </p:grpSpPr>
          <p:pic>
            <p:nvPicPr>
              <p:cNvPr id="237" name="Google Shape;237;p9" title="Screenshot 2025-07-21 at 3.22.07 PM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49900" y="1493449"/>
                <a:ext cx="4260302" cy="1772912"/>
              </a:xfrm>
              <a:prstGeom prst="rect">
                <a:avLst/>
              </a:prstGeom>
              <a:noFill/>
              <a:ln w="79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238" name="Google Shape;238;p9" title="Screenshot 2025-07-21 at 3.22.46 PM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649894" y="2244939"/>
                <a:ext cx="409906" cy="2699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39" name="Google Shape;239;p9"/>
            <p:cNvCxnSpPr/>
            <p:nvPr/>
          </p:nvCxnSpPr>
          <p:spPr>
            <a:xfrm>
              <a:off x="400555" y="3300941"/>
              <a:ext cx="3489000" cy="0"/>
            </a:xfrm>
            <a:prstGeom prst="straightConnector1">
              <a:avLst/>
            </a:prstGeom>
            <a:noFill/>
            <a:ln w="19050" cap="flat" cmpd="sng">
              <a:solidFill>
                <a:srgbClr val="FF5F05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240" name="Google Shape;240;p9"/>
          <p:cNvSpPr/>
          <p:nvPr/>
        </p:nvSpPr>
        <p:spPr>
          <a:xfrm>
            <a:off x="4193975" y="2787512"/>
            <a:ext cx="493500" cy="38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5F0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384600" y="3853593"/>
            <a:ext cx="36963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US" sz="1200" b="1" i="1">
                <a:solidFill>
                  <a:srgbClr val="595959"/>
                </a:solidFill>
              </a:rPr>
              <a:t>6</a:t>
            </a:r>
            <a:r>
              <a:rPr lang="en-US" sz="12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200" b="1" i="1">
                <a:solidFill>
                  <a:srgbClr val="595959"/>
                </a:solidFill>
              </a:rPr>
              <a:t> </a:t>
            </a:r>
            <a:r>
              <a:rPr lang="en-US" sz="1200">
                <a:solidFill>
                  <a:srgbClr val="595959"/>
                </a:solidFill>
              </a:rPr>
              <a:t>Embedded Dense coding protocol adapted to a Qiskit quantum circuit capable of running on a quantum computer</a:t>
            </a:r>
            <a:endParaRPr sz="120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d1aff0eca_0_49"/>
          <p:cNvSpPr/>
          <p:nvPr/>
        </p:nvSpPr>
        <p:spPr>
          <a:xfrm rot="10800000" flipH="1">
            <a:off x="0" y="165"/>
            <a:ext cx="9144000" cy="651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9d1aff0eca_0_49"/>
          <p:cNvSpPr txBox="1"/>
          <p:nvPr/>
        </p:nvSpPr>
        <p:spPr>
          <a:xfrm>
            <a:off x="282608" y="153039"/>
            <a:ext cx="81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</a:t>
            </a:r>
            <a:r>
              <a:rPr lang="en-US" sz="1800">
                <a:solidFill>
                  <a:srgbClr val="FFFFFF"/>
                </a:solidFill>
              </a:rPr>
              <a:t>Qubit Encoding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g39d1aff0eca_0_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1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9d1aff0eca_0_49"/>
          <p:cNvSpPr txBox="1"/>
          <p:nvPr/>
        </p:nvSpPr>
        <p:spPr>
          <a:xfrm>
            <a:off x="7001698" y="4893286"/>
            <a:ext cx="1855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9d1aff0eca_0_49"/>
          <p:cNvSpPr txBox="1"/>
          <p:nvPr/>
        </p:nvSpPr>
        <p:spPr>
          <a:xfrm>
            <a:off x="282605" y="4893286"/>
            <a:ext cx="5993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g39d1aff0eca_0_49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252" name="Google Shape;252;g39d1aff0eca_0_49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3" name="Google Shape;253;g39d1aff0eca_0_49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g39d1aff0eca_0_49"/>
          <p:cNvSpPr txBox="1"/>
          <p:nvPr/>
        </p:nvSpPr>
        <p:spPr>
          <a:xfrm>
            <a:off x="311700" y="847675"/>
            <a:ext cx="4337400" cy="3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Some adaptations were necessary: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No native support for qudits of arbitrary dimension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No control over type of noise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Qubit Encoding: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We can simulate the behavior of a D dimensional qudit using log2(D) qubits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If D is a power of 2, encoding the operator gates becomes trivially simple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55" name="Google Shape;255;g39d1aff0eca_0_49" title="Screenshot 2025-07-17 at 4.44.13 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5675" y="921166"/>
            <a:ext cx="318245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9d1aff0eca_0_49"/>
          <p:cNvSpPr txBox="1"/>
          <p:nvPr/>
        </p:nvSpPr>
        <p:spPr>
          <a:xfrm>
            <a:off x="5504450" y="1934741"/>
            <a:ext cx="314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(Example of a pair of qubits being encoded into a 4-state qudit)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g39d1aff0eca_0_49"/>
          <p:cNvGrpSpPr/>
          <p:nvPr/>
        </p:nvGrpSpPr>
        <p:grpSpPr>
          <a:xfrm>
            <a:off x="5857550" y="2488848"/>
            <a:ext cx="2438700" cy="2328977"/>
            <a:chOff x="5993350" y="2514648"/>
            <a:chExt cx="2438700" cy="2328977"/>
          </a:xfrm>
        </p:grpSpPr>
        <p:pic>
          <p:nvPicPr>
            <p:cNvPr id="258" name="Google Shape;258;g39d1aff0eca_0_49" title="Z3X3_gate.png"/>
            <p:cNvPicPr preferRelativeResize="0"/>
            <p:nvPr/>
          </p:nvPicPr>
          <p:blipFill rotWithShape="1">
            <a:blip r:embed="rId5">
              <a:alphaModFix/>
            </a:blip>
            <a:srcRect t="10840" b="44601"/>
            <a:stretch/>
          </p:blipFill>
          <p:spPr>
            <a:xfrm>
              <a:off x="6057500" y="2779537"/>
              <a:ext cx="2038800" cy="1187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g39d1aff0eca_0_49"/>
            <p:cNvSpPr txBox="1"/>
            <p:nvPr/>
          </p:nvSpPr>
          <p:spPr>
            <a:xfrm>
              <a:off x="5993350" y="4016525"/>
              <a:ext cx="2438700" cy="8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Arial"/>
                <a:buNone/>
              </a:pPr>
              <a:r>
                <a:rPr lang="en-US" sz="1200" b="1" i="1" u="none" strike="noStrike" cap="non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Figure </a:t>
              </a:r>
              <a:r>
                <a:rPr lang="en-US" sz="1200" b="1" i="1">
                  <a:solidFill>
                    <a:srgbClr val="595959"/>
                  </a:solidFill>
                </a:rPr>
                <a:t>7</a:t>
              </a:r>
              <a:r>
                <a:rPr lang="en-US" sz="1200" b="1" i="1" u="none" strike="noStrike" cap="non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-US" sz="1200">
                  <a:solidFill>
                    <a:srgbClr val="595959"/>
                  </a:solidFill>
                </a:rPr>
                <a:t>A        and        gate in qiskit when encoding a ququart using two qubits</a:t>
              </a:r>
              <a:endParaRPr sz="1200">
                <a:solidFill>
                  <a:srgbClr val="595959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9d1aff0eca_0_49"/>
            <p:cNvSpPr/>
            <p:nvPr/>
          </p:nvSpPr>
          <p:spPr>
            <a:xfrm rot="5400000">
              <a:off x="7070475" y="2669368"/>
              <a:ext cx="90300" cy="4563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9d1aff0eca_0_49"/>
            <p:cNvSpPr/>
            <p:nvPr/>
          </p:nvSpPr>
          <p:spPr>
            <a:xfrm rot="5400000">
              <a:off x="7605647" y="2670255"/>
              <a:ext cx="90300" cy="4563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2" name="Google Shape;262;g39d1aff0eca_0_4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2700000">
              <a:off x="7005921" y="2559751"/>
              <a:ext cx="219409" cy="2217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g39d1aff0eca_0_4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2700137">
              <a:off x="7541056" y="2560149"/>
              <a:ext cx="219489" cy="221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g39d1aff0eca_0_4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05921" y="4090364"/>
              <a:ext cx="219410" cy="2217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g39d1aff0eca_0_4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268">
              <a:off x="7587331" y="4090324"/>
              <a:ext cx="219489" cy="2217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d1aff0eca_0_110"/>
          <p:cNvSpPr/>
          <p:nvPr/>
        </p:nvSpPr>
        <p:spPr>
          <a:xfrm rot="10800000" flipH="1">
            <a:off x="0" y="165"/>
            <a:ext cx="9144000" cy="651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d1aff0eca_0_110"/>
          <p:cNvSpPr txBox="1"/>
          <p:nvPr/>
        </p:nvSpPr>
        <p:spPr>
          <a:xfrm>
            <a:off x="282608" y="153039"/>
            <a:ext cx="81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Noise on the </a:t>
            </a:r>
            <a:r>
              <a:rPr lang="en-US" sz="1800">
                <a:solidFill>
                  <a:srgbClr val="FFFFFF"/>
                </a:solidFill>
              </a:rPr>
              <a:t>IBM Torino Platform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272" name="Google Shape;272;g39d1aff0eca_0_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1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9d1aff0eca_0_110"/>
          <p:cNvSpPr txBox="1"/>
          <p:nvPr/>
        </p:nvSpPr>
        <p:spPr>
          <a:xfrm>
            <a:off x="7001698" y="4893286"/>
            <a:ext cx="1855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9d1aff0eca_0_110"/>
          <p:cNvSpPr txBox="1"/>
          <p:nvPr/>
        </p:nvSpPr>
        <p:spPr>
          <a:xfrm>
            <a:off x="282605" y="4893286"/>
            <a:ext cx="5993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g39d1aff0eca_0_110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276" name="Google Shape;276;g39d1aff0eca_0_110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7" name="Google Shape;277;g39d1aff0eca_0_110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g39d1aff0eca_0_110"/>
          <p:cNvSpPr txBox="1"/>
          <p:nvPr/>
        </p:nvSpPr>
        <p:spPr>
          <a:xfrm>
            <a:off x="152400" y="848125"/>
            <a:ext cx="8704500" cy="15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Noise on the IBM Torino quantum computer: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We don’t simulate the physical transfer of the qudit from Alice to Bob, which in real applications would be a source of noise to consider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Instead, we only have the noise from the native gates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79" name="Google Shape;279;g39d1aff0eca_0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47701"/>
            <a:ext cx="8839200" cy="190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9d1aff0eca_0_110"/>
          <p:cNvSpPr txBox="1"/>
          <p:nvPr/>
        </p:nvSpPr>
        <p:spPr>
          <a:xfrm>
            <a:off x="282600" y="4229250"/>
            <a:ext cx="870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US" sz="1000" b="1" i="1">
                <a:solidFill>
                  <a:srgbClr val="595959"/>
                </a:solidFill>
              </a:rPr>
              <a:t>8</a:t>
            </a:r>
            <a:r>
              <a:rPr lang="en-US" sz="10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00">
                <a:solidFill>
                  <a:srgbClr val="595959"/>
                </a:solidFill>
              </a:rPr>
              <a:t>Embedded Dense Coding protocol for d = 2, D = 8, transpiled to the native basis gates for the IBM Torino Quantum Computer: X, RZ, SX, CZ. Dashed vertical lines added for visualization purposes.</a:t>
            </a:r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d1aff0eca_2_17"/>
          <p:cNvSpPr/>
          <p:nvPr/>
        </p:nvSpPr>
        <p:spPr>
          <a:xfrm rot="10800000" flipH="1">
            <a:off x="0" y="165"/>
            <a:ext cx="9144000" cy="651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9d1aff0eca_2_17"/>
          <p:cNvSpPr txBox="1"/>
          <p:nvPr/>
        </p:nvSpPr>
        <p:spPr>
          <a:xfrm>
            <a:off x="282608" y="153039"/>
            <a:ext cx="81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Noise on the </a:t>
            </a:r>
            <a:r>
              <a:rPr lang="en-US" sz="1800">
                <a:solidFill>
                  <a:srgbClr val="FFFFFF"/>
                </a:solidFill>
              </a:rPr>
              <a:t>IBM Torino Platform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287" name="Google Shape;287;g39d1aff0eca_2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1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9d1aff0eca_2_17"/>
          <p:cNvSpPr txBox="1"/>
          <p:nvPr/>
        </p:nvSpPr>
        <p:spPr>
          <a:xfrm>
            <a:off x="7001698" y="4893286"/>
            <a:ext cx="1855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9d1aff0eca_2_17"/>
          <p:cNvSpPr txBox="1"/>
          <p:nvPr/>
        </p:nvSpPr>
        <p:spPr>
          <a:xfrm>
            <a:off x="282605" y="4893286"/>
            <a:ext cx="5993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g39d1aff0eca_2_17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291" name="Google Shape;291;g39d1aff0eca_2_17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2" name="Google Shape;292;g39d1aff0eca_2_17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3" name="Google Shape;293;g39d1aff0eca_2_17" title="ab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55916"/>
            <a:ext cx="8839202" cy="264856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9d1aff0eca_2_17"/>
          <p:cNvSpPr txBox="1"/>
          <p:nvPr/>
        </p:nvSpPr>
        <p:spPr>
          <a:xfrm>
            <a:off x="661350" y="3804463"/>
            <a:ext cx="78213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95959"/>
                </a:solidFill>
              </a:rPr>
              <a:t>Table 1:</a:t>
            </a:r>
            <a:r>
              <a:rPr lang="en-US" sz="1200">
                <a:solidFill>
                  <a:srgbClr val="595959"/>
                </a:solidFill>
              </a:rPr>
              <a:t> Summary of hardware performance, qubit characteristics, and key specifications for the 133 qubit quantum computer ibm_torino. The basis gates of this machine are CZ, ID, RZ, SX, and X. The processor type is Heron r1 (version 1.0.22). As of July 3, 2024, the system demonstrates a median CZ error of 4.769×10</a:t>
            </a:r>
            <a:r>
              <a:rPr lang="en-US" sz="1200" baseline="30000">
                <a:solidFill>
                  <a:srgbClr val="595959"/>
                </a:solidFill>
              </a:rPr>
              <a:t>-3</a:t>
            </a:r>
            <a:r>
              <a:rPr lang="en-US" sz="1200">
                <a:solidFill>
                  <a:srgbClr val="595959"/>
                </a:solidFill>
              </a:rPr>
              <a:t>, and a median gate time of 84 ns. </a:t>
            </a:r>
            <a:r>
              <a:rPr lang="en-US" sz="1100" b="1">
                <a:solidFill>
                  <a:srgbClr val="595959"/>
                </a:solidFill>
              </a:rPr>
              <a:t>AbuGhanem, M. (2024).</a:t>
            </a:r>
            <a:r>
              <a:rPr lang="en-US" sz="1100">
                <a:solidFill>
                  <a:srgbClr val="595959"/>
                </a:solidFill>
              </a:rPr>
              <a:t> </a:t>
            </a:r>
            <a:r>
              <a:rPr lang="en-US" sz="1100" i="1">
                <a:solidFill>
                  <a:srgbClr val="595959"/>
                </a:solidFill>
              </a:rPr>
              <a:t>IBM quantum computers.</a:t>
            </a:r>
            <a:r>
              <a:rPr lang="en-US" sz="1100">
                <a:solidFill>
                  <a:srgbClr val="595959"/>
                </a:solidFill>
              </a:rPr>
              <a:t> arXiv:2410.00916.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95" name="Google Shape;295;g39d1aff0eca_2_17"/>
          <p:cNvSpPr txBox="1"/>
          <p:nvPr/>
        </p:nvSpPr>
        <p:spPr>
          <a:xfrm>
            <a:off x="152400" y="704598"/>
            <a:ext cx="516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Noise on the IBM Torino quantum computer: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d1aff0eca_0_3"/>
          <p:cNvSpPr/>
          <p:nvPr/>
        </p:nvSpPr>
        <p:spPr>
          <a:xfrm rot="10800000" flipH="1">
            <a:off x="0" y="165"/>
            <a:ext cx="9144000" cy="651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9d1aff0eca_0_3"/>
          <p:cNvSpPr txBox="1"/>
          <p:nvPr/>
        </p:nvSpPr>
        <p:spPr>
          <a:xfrm>
            <a:off x="282608" y="153039"/>
            <a:ext cx="81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</a:t>
            </a:r>
            <a:r>
              <a:rPr lang="en-US" sz="1800">
                <a:solidFill>
                  <a:srgbClr val="FFFFFF"/>
                </a:solidFill>
              </a:rPr>
              <a:t> EDC as a Quantum Circuit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302" name="Google Shape;302;g39d1aff0eca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1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9d1aff0eca_0_3"/>
          <p:cNvSpPr txBox="1"/>
          <p:nvPr/>
        </p:nvSpPr>
        <p:spPr>
          <a:xfrm>
            <a:off x="7001698" y="4893286"/>
            <a:ext cx="1855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9d1aff0eca_0_3"/>
          <p:cNvSpPr txBox="1"/>
          <p:nvPr/>
        </p:nvSpPr>
        <p:spPr>
          <a:xfrm>
            <a:off x="282605" y="4893286"/>
            <a:ext cx="5993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g39d1aff0eca_0_3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306" name="Google Shape;306;g39d1aff0eca_0_3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7" name="Google Shape;307;g39d1aff0eca_0_3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g39d1aff0eca_0_3"/>
          <p:cNvSpPr txBox="1"/>
          <p:nvPr/>
        </p:nvSpPr>
        <p:spPr>
          <a:xfrm>
            <a:off x="311700" y="831725"/>
            <a:ext cx="76947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Full circuits comparison: Dense coding for two d = D = 4 qudits  vs. Embedded Dense coding for one qubit and one D=8 qudit</a:t>
            </a:r>
            <a:endParaRPr/>
          </a:p>
        </p:txBody>
      </p:sp>
      <p:pic>
        <p:nvPicPr>
          <p:cNvPr id="309" name="Google Shape;309;g39d1aff0eca_0_3" title="WhatsApp Image 2025-07-25 at 12.43.59.jpeg"/>
          <p:cNvPicPr preferRelativeResize="0"/>
          <p:nvPr/>
        </p:nvPicPr>
        <p:blipFill rotWithShape="1">
          <a:blip r:embed="rId4">
            <a:alphaModFix/>
          </a:blip>
          <a:srcRect l="641" r="641"/>
          <a:stretch/>
        </p:blipFill>
        <p:spPr>
          <a:xfrm>
            <a:off x="495855" y="2665309"/>
            <a:ext cx="3905711" cy="158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9d1aff0eca_0_3" title="WhatsApp Image 2025-07-25 at 12.44.32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8951" y="2696763"/>
            <a:ext cx="3281470" cy="158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9d1aff0eca_0_3"/>
          <p:cNvSpPr/>
          <p:nvPr/>
        </p:nvSpPr>
        <p:spPr>
          <a:xfrm>
            <a:off x="282597" y="2819062"/>
            <a:ext cx="607200" cy="66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9d1aff0eca_0_3"/>
          <p:cNvSpPr/>
          <p:nvPr/>
        </p:nvSpPr>
        <p:spPr>
          <a:xfrm>
            <a:off x="396161" y="3547595"/>
            <a:ext cx="493500" cy="66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9d1aff0eca_0_3"/>
          <p:cNvSpPr/>
          <p:nvPr/>
        </p:nvSpPr>
        <p:spPr>
          <a:xfrm rot="5400000">
            <a:off x="1501003" y="2187548"/>
            <a:ext cx="25200" cy="11991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9d1aff0eca_0_3"/>
          <p:cNvSpPr/>
          <p:nvPr/>
        </p:nvSpPr>
        <p:spPr>
          <a:xfrm rot="5400000">
            <a:off x="2597005" y="2330198"/>
            <a:ext cx="25200" cy="9138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9d1aff0eca_0_3"/>
          <p:cNvSpPr/>
          <p:nvPr/>
        </p:nvSpPr>
        <p:spPr>
          <a:xfrm rot="5400000">
            <a:off x="3796470" y="2211098"/>
            <a:ext cx="25200" cy="11520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9d1aff0eca_0_3"/>
          <p:cNvSpPr/>
          <p:nvPr/>
        </p:nvSpPr>
        <p:spPr>
          <a:xfrm rot="5400000">
            <a:off x="3137301" y="2724248"/>
            <a:ext cx="25200" cy="1257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9d1aff0eca_0_3"/>
          <p:cNvSpPr/>
          <p:nvPr/>
        </p:nvSpPr>
        <p:spPr>
          <a:xfrm rot="5400000">
            <a:off x="5963444" y="2356723"/>
            <a:ext cx="25200" cy="8379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9d1aff0eca_0_3"/>
          <p:cNvSpPr/>
          <p:nvPr/>
        </p:nvSpPr>
        <p:spPr>
          <a:xfrm rot="5400000">
            <a:off x="6868484" y="2314723"/>
            <a:ext cx="25200" cy="9219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9d1aff0eca_0_3"/>
          <p:cNvSpPr/>
          <p:nvPr/>
        </p:nvSpPr>
        <p:spPr>
          <a:xfrm rot="5400000">
            <a:off x="7885238" y="2390773"/>
            <a:ext cx="25200" cy="7698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9d1aff0eca_0_3"/>
          <p:cNvSpPr/>
          <p:nvPr/>
        </p:nvSpPr>
        <p:spPr>
          <a:xfrm rot="5400000">
            <a:off x="7411172" y="2719573"/>
            <a:ext cx="25200" cy="1122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9d1aff0eca_0_3"/>
          <p:cNvSpPr/>
          <p:nvPr/>
        </p:nvSpPr>
        <p:spPr>
          <a:xfrm>
            <a:off x="4949775" y="2901687"/>
            <a:ext cx="607200" cy="92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9d1aff0eca_0_3"/>
          <p:cNvSpPr/>
          <p:nvPr/>
        </p:nvSpPr>
        <p:spPr>
          <a:xfrm>
            <a:off x="5063463" y="3840410"/>
            <a:ext cx="4935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9d1aff0eca_0_3"/>
          <p:cNvSpPr txBox="1"/>
          <p:nvPr/>
        </p:nvSpPr>
        <p:spPr>
          <a:xfrm rot="-2700000">
            <a:off x="1249904" y="2080269"/>
            <a:ext cx="813314" cy="52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95959"/>
                </a:solidFill>
              </a:rPr>
              <a:t>Qudits</a:t>
            </a:r>
            <a:r>
              <a:rPr lang="en-US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entangled</a:t>
            </a:r>
            <a:endParaRPr sz="11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9d1aff0eca_0_3"/>
          <p:cNvSpPr txBox="1"/>
          <p:nvPr/>
        </p:nvSpPr>
        <p:spPr>
          <a:xfrm rot="-2700000">
            <a:off x="2209110" y="1973127"/>
            <a:ext cx="1371221" cy="4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 applies 1 of 16 operations</a:t>
            </a:r>
            <a:endParaRPr sz="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9d1aff0eca_0_3"/>
          <p:cNvSpPr txBox="1"/>
          <p:nvPr/>
        </p:nvSpPr>
        <p:spPr>
          <a:xfrm rot="-2700000">
            <a:off x="2850750" y="2141201"/>
            <a:ext cx="978777" cy="46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 sends Bob qubit 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9d1aff0eca_0_3"/>
          <p:cNvSpPr txBox="1"/>
          <p:nvPr/>
        </p:nvSpPr>
        <p:spPr>
          <a:xfrm rot="-2700000">
            <a:off x="3530111" y="1956686"/>
            <a:ext cx="1403890" cy="49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Bob decodes operations done </a:t>
            </a:r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g39d1aff0eca_0_3"/>
          <p:cNvCxnSpPr/>
          <p:nvPr/>
        </p:nvCxnSpPr>
        <p:spPr>
          <a:xfrm>
            <a:off x="645329" y="3547595"/>
            <a:ext cx="3878100" cy="0"/>
          </a:xfrm>
          <a:prstGeom prst="straightConnector1">
            <a:avLst/>
          </a:prstGeom>
          <a:noFill/>
          <a:ln w="38100" cap="flat" cmpd="sng">
            <a:solidFill>
              <a:srgbClr val="FF5F0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8" name="Google Shape;328;g39d1aff0eca_0_3"/>
          <p:cNvCxnSpPr/>
          <p:nvPr/>
        </p:nvCxnSpPr>
        <p:spPr>
          <a:xfrm>
            <a:off x="5361437" y="3867431"/>
            <a:ext cx="3068700" cy="0"/>
          </a:xfrm>
          <a:prstGeom prst="straightConnector1">
            <a:avLst/>
          </a:prstGeom>
          <a:noFill/>
          <a:ln w="38100" cap="flat" cmpd="sng">
            <a:solidFill>
              <a:srgbClr val="FF5F0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29" name="Google Shape;329;g39d1aff0eca_0_3"/>
          <p:cNvSpPr txBox="1"/>
          <p:nvPr/>
        </p:nvSpPr>
        <p:spPr>
          <a:xfrm>
            <a:off x="4902550" y="4357573"/>
            <a:ext cx="38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US" sz="1000" b="1" i="1">
                <a:solidFill>
                  <a:srgbClr val="595959"/>
                </a:solidFill>
              </a:rPr>
              <a:t>10</a:t>
            </a:r>
            <a:r>
              <a:rPr lang="en-US" sz="10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00">
                <a:solidFill>
                  <a:srgbClr val="595959"/>
                </a:solidFill>
              </a:rPr>
              <a:t>Embedded </a:t>
            </a: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Dense Coding</a:t>
            </a:r>
            <a:r>
              <a:rPr lang="en-US" sz="1000">
                <a:solidFill>
                  <a:srgbClr val="595959"/>
                </a:solidFill>
              </a:rPr>
              <a:t> </a:t>
            </a: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circuit for 4 classical bits ran on IBM Torino.</a:t>
            </a:r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9d1aff0eca_0_3"/>
          <p:cNvSpPr txBox="1"/>
          <p:nvPr/>
        </p:nvSpPr>
        <p:spPr>
          <a:xfrm rot="-2700000">
            <a:off x="5670054" y="2136394"/>
            <a:ext cx="813314" cy="52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95959"/>
                </a:solidFill>
              </a:rPr>
              <a:t>Qubits</a:t>
            </a:r>
            <a:r>
              <a:rPr lang="en-US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entangled</a:t>
            </a:r>
            <a:endParaRPr sz="11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9d1aff0eca_0_3"/>
          <p:cNvSpPr txBox="1"/>
          <p:nvPr/>
        </p:nvSpPr>
        <p:spPr>
          <a:xfrm rot="-2700000">
            <a:off x="6390085" y="1878584"/>
            <a:ext cx="1371221" cy="5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 </a:t>
            </a:r>
            <a:r>
              <a:rPr lang="en-US" sz="800">
                <a:solidFill>
                  <a:srgbClr val="595959"/>
                </a:solidFill>
              </a:rPr>
              <a:t>embeds her qubit to D = 8 and applies 1 of 16 operations</a:t>
            </a:r>
            <a:endParaRPr sz="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9d1aff0eca_0_3"/>
          <p:cNvSpPr txBox="1"/>
          <p:nvPr/>
        </p:nvSpPr>
        <p:spPr>
          <a:xfrm rot="-2700000">
            <a:off x="7100975" y="2048226"/>
            <a:ext cx="978777" cy="46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Alice sends Bob qubit 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9d1aff0eca_0_3"/>
          <p:cNvSpPr txBox="1"/>
          <p:nvPr/>
        </p:nvSpPr>
        <p:spPr>
          <a:xfrm rot="-2700000">
            <a:off x="7623050" y="1956690"/>
            <a:ext cx="1403890" cy="49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Bob decodes operations done </a:t>
            </a:r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9d1aff0eca_0_3"/>
          <p:cNvSpPr/>
          <p:nvPr/>
        </p:nvSpPr>
        <p:spPr>
          <a:xfrm>
            <a:off x="4904275" y="1618798"/>
            <a:ext cx="3878100" cy="2738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9d1aff0eca_0_3"/>
          <p:cNvSpPr/>
          <p:nvPr/>
        </p:nvSpPr>
        <p:spPr>
          <a:xfrm>
            <a:off x="282600" y="1618798"/>
            <a:ext cx="4357800" cy="2738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9d1aff0eca_0_3"/>
          <p:cNvSpPr txBox="1"/>
          <p:nvPr/>
        </p:nvSpPr>
        <p:spPr>
          <a:xfrm>
            <a:off x="282600" y="4357573"/>
            <a:ext cx="435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US" sz="1000" b="1" i="1">
                <a:solidFill>
                  <a:srgbClr val="595959"/>
                </a:solidFill>
              </a:rPr>
              <a:t>9</a:t>
            </a:r>
            <a:r>
              <a:rPr lang="en-US" sz="10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00">
                <a:solidFill>
                  <a:srgbClr val="595959"/>
                </a:solidFill>
              </a:rPr>
              <a:t>Standard </a:t>
            </a: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Dense Coding</a:t>
            </a:r>
            <a:r>
              <a:rPr lang="en-US" sz="1000">
                <a:solidFill>
                  <a:srgbClr val="595959"/>
                </a:solidFill>
              </a:rPr>
              <a:t> for 4 classical bits </a:t>
            </a:r>
            <a:r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circuit ran on IBM Torino.</a:t>
            </a:r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Dense Coding: IBM Computer Performance</a:t>
            </a:r>
            <a:endParaRPr/>
          </a:p>
        </p:txBody>
      </p:sp>
      <p:pic>
        <p:nvPicPr>
          <p:cNvPr id="343" name="Google Shape;34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10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347" name="Google Shape;347;p10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8" name="Google Shape;348;p10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9" name="Google Shape;349;p10" title="EDCcomp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35" y="826516"/>
            <a:ext cx="7328973" cy="366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 txBox="1"/>
          <p:nvPr/>
        </p:nvSpPr>
        <p:spPr>
          <a:xfrm>
            <a:off x="6876985" y="1444066"/>
            <a:ext cx="2155500" cy="24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US" b="1" i="1">
                <a:solidFill>
                  <a:srgbClr val="595959"/>
                </a:solidFill>
              </a:rPr>
              <a:t>11</a:t>
            </a:r>
            <a:r>
              <a:rPr lang="en-US" sz="1400" b="1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Results of EDC protocol performed on IBM Torino quantum computer for various starting and embedding dimensions. 10,000 shots were performed for three separate trials.</a:t>
            </a:r>
            <a:endParaRPr sz="14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 and Next Steps</a:t>
            </a:r>
            <a:endParaRPr/>
          </a:p>
        </p:txBody>
      </p:sp>
      <p:pic>
        <p:nvPicPr>
          <p:cNvPr id="357" name="Google Shape;35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1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0" name="Google Shape;360;p11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361" name="Google Shape;361;p11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2" name="Google Shape;362;p11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11"/>
          <p:cNvSpPr txBox="1"/>
          <p:nvPr/>
        </p:nvSpPr>
        <p:spPr>
          <a:xfrm>
            <a:off x="204943" y="892644"/>
            <a:ext cx="8337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Conclusion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Embedded Dense Coding utilizes higher dimensional embedding to gain a fidelity advantage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protocol has been implemented and tested on IBM quantum computers</a:t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204953" y="2518160"/>
            <a:ext cx="8337900" cy="1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Next Steps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effects of other forms of noise in quantum channels and its interaction with embedded protocols (depolarizing noise)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 agreement with Holevo’s theorem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 other forms of error correcting codes that utilize embedding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Potentially run protocol for cases without bell pair entanglement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/>
          <p:nvPr/>
        </p:nvSpPr>
        <p:spPr>
          <a:xfrm rot="10800000" flipH="1">
            <a:off x="0" y="15"/>
            <a:ext cx="9144000" cy="65115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282608" y="153039"/>
            <a:ext cx="81825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Citations and Acknowledgements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132" y="175364"/>
            <a:ext cx="203482" cy="29235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 txBox="1"/>
          <p:nvPr/>
        </p:nvSpPr>
        <p:spPr>
          <a:xfrm>
            <a:off x="7001698" y="4893286"/>
            <a:ext cx="1855125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282605" y="4893286"/>
            <a:ext cx="5993550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UNIVERSITY OF ILLINOIS URBANA-CHAMPAIGN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12"/>
          <p:cNvGrpSpPr/>
          <p:nvPr/>
        </p:nvGrpSpPr>
        <p:grpSpPr>
          <a:xfrm>
            <a:off x="3674344" y="4952134"/>
            <a:ext cx="3279011" cy="52875"/>
            <a:chOff x="4894875" y="6601537"/>
            <a:chExt cx="4372015" cy="70500"/>
          </a:xfrm>
        </p:grpSpPr>
        <p:cxnSp>
          <p:nvCxnSpPr>
            <p:cNvPr id="375" name="Google Shape;375;p12"/>
            <p:cNvCxnSpPr/>
            <p:nvPr/>
          </p:nvCxnSpPr>
          <p:spPr>
            <a:xfrm rot="10800000">
              <a:off x="4894875" y="6639606"/>
              <a:ext cx="4303200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6" name="Google Shape;376;p12"/>
            <p:cNvSpPr/>
            <p:nvPr/>
          </p:nvSpPr>
          <p:spPr>
            <a:xfrm>
              <a:off x="9196390" y="6601537"/>
              <a:ext cx="70500" cy="70500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2"/>
          <p:cNvSpPr txBox="1"/>
          <p:nvPr/>
        </p:nvSpPr>
        <p:spPr>
          <a:xfrm>
            <a:off x="311700" y="1343517"/>
            <a:ext cx="4791000" cy="1419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would like to thank the Chicago Quantum Exchange OQI undergraduate fellowship, the NSF UIUC Physics REU, the University of Illinois Urbana Champaign, and the Chitambar research group at UIUC.</a:t>
            </a:r>
            <a:endParaRPr/>
          </a:p>
        </p:txBody>
      </p:sp>
      <p:pic>
        <p:nvPicPr>
          <p:cNvPr id="378" name="Google Shape;378;p12" title="Screenshot 2025-07-21 at 14.55.3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6410" y="874883"/>
            <a:ext cx="3950575" cy="4004127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2"/>
          <p:cNvSpPr txBox="1"/>
          <p:nvPr/>
        </p:nvSpPr>
        <p:spPr>
          <a:xfrm>
            <a:off x="282605" y="2807588"/>
            <a:ext cx="47910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material is based upon work supported by the National Science Foundation PHY-2244433.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opinions, findings, and conclusions or recommendations expressed in this material are those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author(s) and do not necessarily reflect the views of the National Science Foundation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/>
          <p:nvPr/>
        </p:nvSpPr>
        <p:spPr>
          <a:xfrm>
            <a:off x="6311550" y="1670194"/>
            <a:ext cx="2832525" cy="3473325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2467952" y="186130"/>
            <a:ext cx="42081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3500">
                <a:solidFill>
                  <a:srgbClr val="FFFFFF"/>
                </a:solidFill>
              </a:rPr>
              <a:t>Collaborators</a:t>
            </a:r>
            <a:endParaRPr sz="3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15341" y="226804"/>
            <a:ext cx="525006" cy="52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37950" y="227681"/>
            <a:ext cx="525005" cy="52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3" title="Elio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975" y="1664450"/>
            <a:ext cx="1814600" cy="18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3" title="Facu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1063" y="1664452"/>
            <a:ext cx="1814600" cy="18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3" title="Razvi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26238" y="1664450"/>
            <a:ext cx="1814600" cy="18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3" title="Eric.jpg"/>
          <p:cNvPicPr preferRelativeResize="0"/>
          <p:nvPr/>
        </p:nvPicPr>
        <p:blipFill rotWithShape="1">
          <a:blip r:embed="rId9">
            <a:alphaModFix/>
          </a:blip>
          <a:srcRect b="27346"/>
          <a:stretch/>
        </p:blipFill>
        <p:spPr>
          <a:xfrm>
            <a:off x="7141425" y="1648359"/>
            <a:ext cx="1814600" cy="184679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 txBox="1"/>
          <p:nvPr/>
        </p:nvSpPr>
        <p:spPr>
          <a:xfrm>
            <a:off x="69275" y="3673700"/>
            <a:ext cx="2052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Elio Thandani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Harvey Mudd College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2388413" y="3673700"/>
            <a:ext cx="2052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Facundo Martin Lopez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Carleton College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4707550" y="3673700"/>
            <a:ext cx="2052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Hussain Razvi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UIUC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7074450" y="3673700"/>
            <a:ext cx="20520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Eric Chitambar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UIUC</a:t>
            </a:r>
            <a:b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Principle Investigator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d1aff0eca_2_0"/>
          <p:cNvSpPr/>
          <p:nvPr/>
        </p:nvSpPr>
        <p:spPr>
          <a:xfrm>
            <a:off x="6311550" y="1670194"/>
            <a:ext cx="2832600" cy="3473400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9d1aff0eca_2_0"/>
          <p:cNvSpPr txBox="1"/>
          <p:nvPr/>
        </p:nvSpPr>
        <p:spPr>
          <a:xfrm>
            <a:off x="1960260" y="2013883"/>
            <a:ext cx="5223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5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g39d1aff0eca_2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0756" y="753557"/>
            <a:ext cx="2182488" cy="56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9d1aff0eca_2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5341" y="226804"/>
            <a:ext cx="525006" cy="52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9d1aff0eca_2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7950" y="227681"/>
            <a:ext cx="525005" cy="525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1263</Words>
  <Application>Microsoft Office PowerPoint</Application>
  <PresentationFormat>On-screen Show (16:9)</PresentationFormat>
  <Paragraphs>151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Ahmad, Sharjeel</cp:lastModifiedBy>
  <cp:revision>2</cp:revision>
  <dcterms:modified xsi:type="dcterms:W3CDTF">2025-10-29T03:27:10Z</dcterms:modified>
</cp:coreProperties>
</file>